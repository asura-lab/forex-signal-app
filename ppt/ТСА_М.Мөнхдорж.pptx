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7" r:id="rId6"/>
    <p:sldId id="307" r:id="rId7"/>
    <p:sldId id="318" r:id="rId8"/>
    <p:sldId id="321" r:id="rId9"/>
    <p:sldId id="319" r:id="rId10"/>
    <p:sldId id="320" r:id="rId11"/>
    <p:sldId id="322" r:id="rId12"/>
    <p:sldId id="323" r:id="rId13"/>
    <p:sldId id="313" r:id="rId14"/>
    <p:sldId id="314" r:id="rId15"/>
    <p:sldId id="284" r:id="rId16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80">
          <p15:clr>
            <a:srgbClr val="A4A3A4"/>
          </p15:clr>
        </p15:guide>
        <p15:guide id="2" pos="14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FEAA0D-C5C3-4A36-96FE-8D10CC5A47C7}">
  <a:tblStyle styleId="{7AFEAA0D-C5C3-4A36-96FE-8D10CC5A47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A0ED67E-EBEB-450E-86A7-1F8ED3349B8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216" y="80"/>
      </p:cViewPr>
      <p:guideLst>
        <p:guide orient="horz" pos="1080"/>
        <p:guide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6692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9081A089-0822-0EDC-4037-3A7EB017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>
            <a:extLst>
              <a:ext uri="{FF2B5EF4-FFF2-40B4-BE49-F238E27FC236}">
                <a16:creationId xmlns:a16="http://schemas.microsoft.com/office/drawing/2014/main" id="{EFCB58B9-BDFD-898D-09DE-DCFBA5420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>
            <a:extLst>
              <a:ext uri="{FF2B5EF4-FFF2-40B4-BE49-F238E27FC236}">
                <a16:creationId xmlns:a16="http://schemas.microsoft.com/office/drawing/2014/main" id="{F4D7C69A-874D-E2D3-E35D-4F9854BC7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6698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199C0D17-F5ED-D2EB-196A-BDE35438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>
            <a:extLst>
              <a:ext uri="{FF2B5EF4-FFF2-40B4-BE49-F238E27FC236}">
                <a16:creationId xmlns:a16="http://schemas.microsoft.com/office/drawing/2014/main" id="{963FB61F-4788-AF7D-A8E3-CE26C7CA7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>
            <a:extLst>
              <a:ext uri="{FF2B5EF4-FFF2-40B4-BE49-F238E27FC236}">
                <a16:creationId xmlns:a16="http://schemas.microsoft.com/office/drawing/2014/main" id="{BEB944D0-6993-0075-52E8-28507EFFC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3185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CEC2DC24-217B-3896-ECB9-49E45B7F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>
            <a:extLst>
              <a:ext uri="{FF2B5EF4-FFF2-40B4-BE49-F238E27FC236}">
                <a16:creationId xmlns:a16="http://schemas.microsoft.com/office/drawing/2014/main" id="{45399C7C-31B2-8CF1-D812-406C04B55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>
            <a:extLst>
              <a:ext uri="{FF2B5EF4-FFF2-40B4-BE49-F238E27FC236}">
                <a16:creationId xmlns:a16="http://schemas.microsoft.com/office/drawing/2014/main" id="{A660A919-DED2-19E8-E606-BD685BC24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1469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D73B002E-D478-C2AF-38BD-4C25AA2D4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>
            <a:extLst>
              <a:ext uri="{FF2B5EF4-FFF2-40B4-BE49-F238E27FC236}">
                <a16:creationId xmlns:a16="http://schemas.microsoft.com/office/drawing/2014/main" id="{D3C29CFB-A1A8-BA81-7674-9B118A576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>
            <a:extLst>
              <a:ext uri="{FF2B5EF4-FFF2-40B4-BE49-F238E27FC236}">
                <a16:creationId xmlns:a16="http://schemas.microsoft.com/office/drawing/2014/main" id="{DB18FC95-92DE-9955-2891-15DD694CD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386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A3E1CA28-F56A-5855-5A83-D355BC9C5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>
            <a:extLst>
              <a:ext uri="{FF2B5EF4-FFF2-40B4-BE49-F238E27FC236}">
                <a16:creationId xmlns:a16="http://schemas.microsoft.com/office/drawing/2014/main" id="{4FE403ED-B0BE-BE6E-D6E0-971227365C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>
            <a:extLst>
              <a:ext uri="{FF2B5EF4-FFF2-40B4-BE49-F238E27FC236}">
                <a16:creationId xmlns:a16="http://schemas.microsoft.com/office/drawing/2014/main" id="{58896894-A589-A4D8-A583-38E932CCA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925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EB2402E0-A15A-98AC-63AC-4C72C4E8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>
            <a:extLst>
              <a:ext uri="{FF2B5EF4-FFF2-40B4-BE49-F238E27FC236}">
                <a16:creationId xmlns:a16="http://schemas.microsoft.com/office/drawing/2014/main" id="{6CDE6F25-6337-60B3-7BEB-0B49382060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>
            <a:extLst>
              <a:ext uri="{FF2B5EF4-FFF2-40B4-BE49-F238E27FC236}">
                <a16:creationId xmlns:a16="http://schemas.microsoft.com/office/drawing/2014/main" id="{31B9594A-FBD0-E00A-E515-32C62774B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1563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7699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f828817b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81" name="Google Shape;281;g32f828817b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2139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013" y="342744"/>
            <a:ext cx="889026" cy="97829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sx="108000" sy="108000" algn="tl" rotWithShape="0">
              <a:srgbClr val="333333">
                <a:alpha val="49803"/>
              </a:srgbClr>
            </a:outerShdw>
          </a:effectLst>
        </p:spPr>
      </p:pic>
      <p:grpSp>
        <p:nvGrpSpPr>
          <p:cNvPr id="85" name="Google Shape;85;p13"/>
          <p:cNvGrpSpPr/>
          <p:nvPr/>
        </p:nvGrpSpPr>
        <p:grpSpPr>
          <a:xfrm>
            <a:off x="1462137" y="499125"/>
            <a:ext cx="7047798" cy="736289"/>
            <a:chOff x="-292979" y="789508"/>
            <a:chExt cx="14735100" cy="1963437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-292979" y="789508"/>
              <a:ext cx="14735100" cy="10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1" i="0" u="none" strike="noStrike" cap="none">
                  <a:solidFill>
                    <a:srgbClr val="0E31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ШИНЭ МОНГОЛ ТЕХНОЛОГИЙН КОЛЛЕЖ</a:t>
              </a:r>
              <a:endParaRPr sz="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-292954" y="2112769"/>
              <a:ext cx="13003799" cy="640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mn-MN" sz="1300" b="1" dirty="0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КОМПЬЮТЕРЫН УХААНЫ</a:t>
              </a:r>
              <a:r>
                <a:rPr lang="en-US" sz="1300" b="1" i="0" u="none" strike="noStrike" cap="none" dirty="0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ТЭНХИМ</a:t>
              </a:r>
              <a:endParaRPr sz="700" dirty="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8" name="Google Shape;88;p13"/>
          <p:cNvSpPr txBox="1"/>
          <p:nvPr/>
        </p:nvSpPr>
        <p:spPr>
          <a:xfrm>
            <a:off x="1048050" y="2102688"/>
            <a:ext cx="70479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mn-M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Машин сургалтын аргаар хөрөнгийн зах зээлийн чиг хандлагыг таамаглах арилжааны бот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322300" y="3426975"/>
            <a:ext cx="4499400" cy="5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Удирдагч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багш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mn-M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Н.Соронзонболд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Гүйцэтгэсэн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Оюутан</a:t>
            </a:r>
            <a:r>
              <a:rPr lang="en-US" sz="1400" b="1" dirty="0">
                <a:latin typeface="Times New Roman"/>
                <a:ea typeface="Times New Roman"/>
                <a:cs typeface="Times New Roman"/>
                <a:sym typeface="Times New Roman"/>
              </a:rPr>
              <a:t>:           </a:t>
            </a:r>
            <a:r>
              <a:rPr lang="mn-MN" sz="1400" dirty="0">
                <a:latin typeface="Times New Roman"/>
                <a:ea typeface="Times New Roman"/>
                <a:cs typeface="Times New Roman"/>
                <a:sym typeface="Times New Roman"/>
              </a:rPr>
              <a:t>М.Мөнхдорж 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(s2</a:t>
            </a:r>
            <a:r>
              <a:rPr lang="mn-MN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mn-MN" sz="1400" dirty="0">
                <a:latin typeface="Times New Roman"/>
                <a:ea typeface="Times New Roman"/>
                <a:cs typeface="Times New Roman"/>
                <a:sym typeface="Times New Roman"/>
              </a:rPr>
              <a:t>033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sz="2000" b="1" dirty="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49" cy="74231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96" name="Google Shape;96;p14"/>
          <p:cNvSpPr txBox="1"/>
          <p:nvPr/>
        </p:nvSpPr>
        <p:spPr>
          <a:xfrm>
            <a:off x="569378" y="377423"/>
            <a:ext cx="4002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Агуулга</a:t>
            </a:r>
            <a:endParaRPr sz="1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24363" y="1057888"/>
            <a:ext cx="4993685" cy="132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2286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Үндэслэл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Зорилго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зорилт</a:t>
            </a:r>
            <a:endParaRPr lang="mn-MN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Арга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зүй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Үр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дүн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Дүгнэлт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7947900" y="47571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49" cy="742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105" name="Google Shape;105;p15"/>
          <p:cNvSpPr txBox="1"/>
          <p:nvPr/>
        </p:nvSpPr>
        <p:spPr>
          <a:xfrm>
            <a:off x="569360" y="403860"/>
            <a:ext cx="4002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Үндэслэл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7947900" y="4748400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26;p16">
            <a:extLst>
              <a:ext uri="{FF2B5EF4-FFF2-40B4-BE49-F238E27FC236}">
                <a16:creationId xmlns:a16="http://schemas.microsoft.com/office/drawing/2014/main" id="{0BDDD99E-B6FE-A37F-5888-D4A9EA2C95DB}"/>
              </a:ext>
            </a:extLst>
          </p:cNvPr>
          <p:cNvSpPr txBox="1"/>
          <p:nvPr/>
        </p:nvSpPr>
        <p:spPr>
          <a:xfrm>
            <a:off x="569360" y="1133640"/>
            <a:ext cx="7973947" cy="33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Форех зах зээл: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Өдөрт 7.5 их наяд долларын арилжаа</a:t>
            </a:r>
          </a:p>
        </p:txBody>
      </p:sp>
      <p:sp>
        <p:nvSpPr>
          <p:cNvPr id="3" name="Google Shape;126;p16">
            <a:extLst>
              <a:ext uri="{FF2B5EF4-FFF2-40B4-BE49-F238E27FC236}">
                <a16:creationId xmlns:a16="http://schemas.microsoft.com/office/drawing/2014/main" id="{2D383154-F247-ED19-1B3C-4386694D4D2A}"/>
              </a:ext>
            </a:extLst>
          </p:cNvPr>
          <p:cNvSpPr txBox="1"/>
          <p:nvPr/>
        </p:nvSpPr>
        <p:spPr>
          <a:xfrm>
            <a:off x="569360" y="2520269"/>
            <a:ext cx="7342716" cy="132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Шалтгаанууд:</a:t>
            </a:r>
            <a:endParaRPr lang="mn-MN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Хэт их мэдээлэл боловсруулах шаардлага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Сэтгэл хөдлөлийн нөлөөлөл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цагийн турш хяналт тавих боломжгүй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Зах зээлийн хөдөлгөөнийг таамаглахад хэцүү</a:t>
            </a:r>
          </a:p>
        </p:txBody>
      </p:sp>
      <p:sp>
        <p:nvSpPr>
          <p:cNvPr id="4" name="Google Shape;126;p16">
            <a:extLst>
              <a:ext uri="{FF2B5EF4-FFF2-40B4-BE49-F238E27FC236}">
                <a16:creationId xmlns:a16="http://schemas.microsoft.com/office/drawing/2014/main" id="{9BA740DB-0E05-76F9-C593-C32391404C19}"/>
              </a:ext>
            </a:extLst>
          </p:cNvPr>
          <p:cNvSpPr txBox="1"/>
          <p:nvPr/>
        </p:nvSpPr>
        <p:spPr>
          <a:xfrm>
            <a:off x="569360" y="1838452"/>
            <a:ext cx="7720275" cy="33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Нийт арилжаачдын 70-80% нь алдагдалтай</a:t>
            </a:r>
            <a:endParaRPr lang="mn-MN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49" cy="7423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125" name="Google Shape;125;p16"/>
          <p:cNvSpPr txBox="1"/>
          <p:nvPr/>
        </p:nvSpPr>
        <p:spPr>
          <a:xfrm>
            <a:off x="569360" y="403860"/>
            <a:ext cx="4002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Судалгааны ажлын зорилго, зорилт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56810" y="966983"/>
            <a:ext cx="7830300" cy="8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Зорилго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машин сургалтын аргаар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EUR/USD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валютын хослолын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дохио таамаглах систем хөгжүүлэх</a:t>
            </a: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7947900" y="4741550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26;p16">
            <a:extLst>
              <a:ext uri="{FF2B5EF4-FFF2-40B4-BE49-F238E27FC236}">
                <a16:creationId xmlns:a16="http://schemas.microsoft.com/office/drawing/2014/main" id="{6C1621D0-A31D-317D-93BF-1EB56B0421E9}"/>
              </a:ext>
            </a:extLst>
          </p:cNvPr>
          <p:cNvSpPr txBox="1"/>
          <p:nvPr/>
        </p:nvSpPr>
        <p:spPr>
          <a:xfrm>
            <a:off x="651000" y="1908616"/>
            <a:ext cx="7830300" cy="206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Зорил</a:t>
            </a: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mn-MN"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Өгөгдөл цуглуулах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Техник индикатор тооцоолох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LightGBM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RF Ensemble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загвар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 сургах,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тохируулах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Үнэлгээ хийх (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Precision, Recall, F1, ROC-AUC)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Backend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хөгжүүлэх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Native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мобайл апп хөгжүүлэх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B57AEB37-71BE-C67C-F50C-22A9F4CCD770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3A5D4896-6ECD-D723-8D3B-171E54592A76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Арга зүй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126;p16">
            <a:extLst>
              <a:ext uri="{FF2B5EF4-FFF2-40B4-BE49-F238E27FC236}">
                <a16:creationId xmlns:a16="http://schemas.microsoft.com/office/drawing/2014/main" id="{8FDB39A6-04F0-CD9A-3D48-40D25D840FA1}"/>
              </a:ext>
            </a:extLst>
          </p:cNvPr>
          <p:cNvSpPr txBox="1"/>
          <p:nvPr/>
        </p:nvSpPr>
        <p:spPr>
          <a:xfrm>
            <a:off x="3006907" y="4271769"/>
            <a:ext cx="3130103" cy="33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Зураг 1.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Системийн архитектур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DD0338-B6A4-AF26-FF2D-D80B6FE2E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91" y="1133641"/>
            <a:ext cx="7893337" cy="2798951"/>
          </a:xfrm>
          <a:prstGeom prst="rect">
            <a:avLst/>
          </a:prstGeom>
        </p:spPr>
      </p:pic>
      <p:sp>
        <p:nvSpPr>
          <p:cNvPr id="10" name="Google Shape;150;p17">
            <a:extLst>
              <a:ext uri="{FF2B5EF4-FFF2-40B4-BE49-F238E27FC236}">
                <a16:creationId xmlns:a16="http://schemas.microsoft.com/office/drawing/2014/main" id="{868BC23C-C04F-B59E-0191-5CF2B1F07719}"/>
              </a:ext>
            </a:extLst>
          </p:cNvPr>
          <p:cNvSpPr txBox="1"/>
          <p:nvPr/>
        </p:nvSpPr>
        <p:spPr>
          <a:xfrm>
            <a:off x="569320" y="702449"/>
            <a:ext cx="3275480" cy="32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Системийн архитектур</a:t>
            </a:r>
            <a:endParaRPr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B57AEB37-71BE-C67C-F50C-22A9F4CCD770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3A5D4896-6ECD-D723-8D3B-171E54592A76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Арга зүй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69320" y="702449"/>
            <a:ext cx="3275480" cy="32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Ашигласан өгөгдөл</a:t>
            </a:r>
            <a:endParaRPr sz="7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6CE6A9-D45D-FE89-3088-34DB04984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98266"/>
              </p:ext>
            </p:extLst>
          </p:nvPr>
        </p:nvGraphicFramePr>
        <p:xfrm>
          <a:off x="2602931" y="1459230"/>
          <a:ext cx="3938056" cy="2225040"/>
        </p:xfrm>
        <a:graphic>
          <a:graphicData uri="http://schemas.openxmlformats.org/drawingml/2006/table">
            <a:tbl>
              <a:tblPr firstRow="1" bandRow="1">
                <a:tableStyleId>{7AFEAA0D-C5C3-4A36-96FE-8D10CC5A47C7}</a:tableStyleId>
              </a:tblPr>
              <a:tblGrid>
                <a:gridCol w="2451752">
                  <a:extLst>
                    <a:ext uri="{9D8B030D-6E8A-4147-A177-3AD203B41FA5}">
                      <a16:colId xmlns:a16="http://schemas.microsoft.com/office/drawing/2014/main" val="2059130162"/>
                    </a:ext>
                  </a:extLst>
                </a:gridCol>
                <a:gridCol w="1486304">
                  <a:extLst>
                    <a:ext uri="{9D8B030D-6E8A-4147-A177-3AD203B41FA5}">
                      <a16:colId xmlns:a16="http://schemas.microsoft.com/office/drawing/2014/main" val="398898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mn-MN" dirty="0"/>
                        <a:t>Параметр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Утга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317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dirty="0"/>
                        <a:t>Нийт өгөгдөл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2,156,270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11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dirty="0"/>
                        <a:t>Сургалтын өгөгдөл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1,856,492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73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dirty="0"/>
                        <a:t>Тестийн өгөгдөл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296,778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5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dirty="0"/>
                        <a:t>Интервал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1 минут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6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dirty="0"/>
                        <a:t>Техник индикаторын тоо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70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193880"/>
                  </a:ext>
                </a:extLst>
              </a:tr>
            </a:tbl>
          </a:graphicData>
        </a:graphic>
      </p:graphicFrame>
      <p:sp>
        <p:nvSpPr>
          <p:cNvPr id="6" name="Google Shape;126;p16">
            <a:extLst>
              <a:ext uri="{FF2B5EF4-FFF2-40B4-BE49-F238E27FC236}">
                <a16:creationId xmlns:a16="http://schemas.microsoft.com/office/drawing/2014/main" id="{3296F34F-52A0-7133-1877-0AA758EFC264}"/>
              </a:ext>
            </a:extLst>
          </p:cNvPr>
          <p:cNvSpPr txBox="1"/>
          <p:nvPr/>
        </p:nvSpPr>
        <p:spPr>
          <a:xfrm>
            <a:off x="3154155" y="4117876"/>
            <a:ext cx="2835607" cy="58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Хүснэгт 1.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Ашигласан өгөгдлийн мэдээлэл</a:t>
            </a:r>
          </a:p>
        </p:txBody>
      </p:sp>
    </p:spTree>
    <p:extLst>
      <p:ext uri="{BB962C8B-B14F-4D97-AF65-F5344CB8AC3E}">
        <p14:creationId xmlns:p14="http://schemas.microsoft.com/office/powerpoint/2010/main" val="225450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BC1DE0E2-5414-E21C-0CEF-2A66AD22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>
            <a:extLst>
              <a:ext uri="{FF2B5EF4-FFF2-40B4-BE49-F238E27FC236}">
                <a16:creationId xmlns:a16="http://schemas.microsoft.com/office/drawing/2014/main" id="{7E6B2367-B795-66BC-2458-5D123C3AD284}"/>
              </a:ext>
            </a:extLst>
          </p:cNvPr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4455B49E-76C9-5102-52AD-12C2C09579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10BDE1C6-250D-EF64-2349-B11C12267CD0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7D3E48DC-08E3-1381-4660-DB7DA722D6A5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Арга зүй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731DFCDA-9854-1242-9E22-DBAFFE3584FC}"/>
              </a:ext>
            </a:extLst>
          </p:cNvPr>
          <p:cNvSpPr txBox="1"/>
          <p:nvPr/>
        </p:nvSpPr>
        <p:spPr>
          <a:xfrm>
            <a:off x="569320" y="702449"/>
            <a:ext cx="3275480" cy="32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Модел архитектур</a:t>
            </a:r>
            <a:endParaRPr sz="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2321F-AC13-5841-5223-6D8EE1C5B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019" y="1025624"/>
            <a:ext cx="5119881" cy="3402163"/>
          </a:xfrm>
          <a:prstGeom prst="rect">
            <a:avLst/>
          </a:prstGeom>
        </p:spPr>
      </p:pic>
      <p:sp>
        <p:nvSpPr>
          <p:cNvPr id="9" name="Google Shape;126;p16">
            <a:extLst>
              <a:ext uri="{FF2B5EF4-FFF2-40B4-BE49-F238E27FC236}">
                <a16:creationId xmlns:a16="http://schemas.microsoft.com/office/drawing/2014/main" id="{72BFEE99-845A-FA4E-45B7-F28C8F5129DA}"/>
              </a:ext>
            </a:extLst>
          </p:cNvPr>
          <p:cNvSpPr txBox="1"/>
          <p:nvPr/>
        </p:nvSpPr>
        <p:spPr>
          <a:xfrm>
            <a:off x="2640830" y="4590506"/>
            <a:ext cx="3862258" cy="33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Зураг 2.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 архитектур</a:t>
            </a:r>
          </a:p>
        </p:txBody>
      </p:sp>
    </p:spTree>
    <p:extLst>
      <p:ext uri="{BB962C8B-B14F-4D97-AF65-F5344CB8AC3E}">
        <p14:creationId xmlns:p14="http://schemas.microsoft.com/office/powerpoint/2010/main" val="151032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C9DCB020-AF5E-7689-0078-571BE603C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>
            <a:extLst>
              <a:ext uri="{FF2B5EF4-FFF2-40B4-BE49-F238E27FC236}">
                <a16:creationId xmlns:a16="http://schemas.microsoft.com/office/drawing/2014/main" id="{7310FA4F-FD1A-799D-F5DC-E54883B9E233}"/>
              </a:ext>
            </a:extLst>
          </p:cNvPr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536F68E3-7728-BC10-3DA0-7A3EC35C7D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60C70A27-DA74-D710-3C52-4C4D96D9A9CF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2780EFD3-8F31-4862-8B4C-CF93FEC35692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Арга зүй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63CDE459-D467-349C-A52A-511D1E4ECACF}"/>
              </a:ext>
            </a:extLst>
          </p:cNvPr>
          <p:cNvSpPr txBox="1"/>
          <p:nvPr/>
        </p:nvSpPr>
        <p:spPr>
          <a:xfrm>
            <a:off x="569320" y="702449"/>
            <a:ext cx="3275480" cy="32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Мобайл аппликейшн дизайн</a:t>
            </a:r>
            <a:endParaRPr sz="700" dirty="0"/>
          </a:p>
        </p:txBody>
      </p:sp>
      <p:sp>
        <p:nvSpPr>
          <p:cNvPr id="9" name="Google Shape;126;p16">
            <a:extLst>
              <a:ext uri="{FF2B5EF4-FFF2-40B4-BE49-F238E27FC236}">
                <a16:creationId xmlns:a16="http://schemas.microsoft.com/office/drawing/2014/main" id="{F40684EC-973D-65DF-1775-87B70E64AE00}"/>
              </a:ext>
            </a:extLst>
          </p:cNvPr>
          <p:cNvSpPr txBox="1"/>
          <p:nvPr/>
        </p:nvSpPr>
        <p:spPr>
          <a:xfrm>
            <a:off x="2730100" y="4681856"/>
            <a:ext cx="3862258" cy="33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Зураг 3.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Аппликейшн дизайн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C1787D-F4C1-5ADF-F2B5-8EF96748FA75}"/>
              </a:ext>
            </a:extLst>
          </p:cNvPr>
          <p:cNvGrpSpPr/>
          <p:nvPr/>
        </p:nvGrpSpPr>
        <p:grpSpPr>
          <a:xfrm>
            <a:off x="1217023" y="1001038"/>
            <a:ext cx="6913143" cy="3569081"/>
            <a:chOff x="1988805" y="1046930"/>
            <a:chExt cx="6913143" cy="356908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990483E-262E-F773-FD9F-F786760B9EA9}"/>
                </a:ext>
              </a:extLst>
            </p:cNvPr>
            <p:cNvGrpSpPr/>
            <p:nvPr/>
          </p:nvGrpSpPr>
          <p:grpSpPr>
            <a:xfrm>
              <a:off x="1988805" y="1046930"/>
              <a:ext cx="5166309" cy="3569081"/>
              <a:chOff x="1932740" y="1046930"/>
              <a:chExt cx="5166309" cy="3569081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D0F1FA1-6835-77E3-D933-230EF71860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1652"/>
              <a:stretch>
                <a:fillRect/>
              </a:stretch>
            </p:blipFill>
            <p:spPr>
              <a:xfrm>
                <a:off x="3654843" y="1046930"/>
                <a:ext cx="1722103" cy="3569081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B8C5240-F92D-2DFD-F903-8C66865B80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1178" b="-1"/>
              <a:stretch>
                <a:fillRect/>
              </a:stretch>
            </p:blipFill>
            <p:spPr>
              <a:xfrm>
                <a:off x="1932740" y="1046930"/>
                <a:ext cx="1722103" cy="3569081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550F58B-38DD-7F70-0AAB-0C48C12C00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1041"/>
              <a:stretch>
                <a:fillRect/>
              </a:stretch>
            </p:blipFill>
            <p:spPr>
              <a:xfrm>
                <a:off x="5376946" y="1046930"/>
                <a:ext cx="1722103" cy="3569081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707CE61-2108-2815-CD9D-4F0C32114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50322" y="1046930"/>
              <a:ext cx="1751626" cy="35690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3560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959322EC-215C-7E05-1AA0-35203548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>
            <a:extLst>
              <a:ext uri="{FF2B5EF4-FFF2-40B4-BE49-F238E27FC236}">
                <a16:creationId xmlns:a16="http://schemas.microsoft.com/office/drawing/2014/main" id="{C74075BA-166B-35E8-FB36-17E797EB8A6A}"/>
              </a:ext>
            </a:extLst>
          </p:cNvPr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ED17460E-CFC2-5923-CF66-1823A15433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F84EF9AD-41DB-A9F5-4C98-C24EBFC47107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6FCFDB81-4E7A-A7FF-036B-FE3F7346F75E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Арга зүй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AE1686E2-442D-8528-6748-F2FCDD1DE5CB}"/>
              </a:ext>
            </a:extLst>
          </p:cNvPr>
          <p:cNvSpPr txBox="1"/>
          <p:nvPr/>
        </p:nvSpPr>
        <p:spPr>
          <a:xfrm>
            <a:off x="569320" y="702449"/>
            <a:ext cx="3275480" cy="32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BUY-ONLY </a:t>
            </a:r>
            <a:r>
              <a:rPr lang="mn-MN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стратеги</a:t>
            </a:r>
            <a:endParaRPr sz="700" dirty="0"/>
          </a:p>
        </p:txBody>
      </p:sp>
      <p:sp>
        <p:nvSpPr>
          <p:cNvPr id="9" name="Google Shape;126;p16">
            <a:extLst>
              <a:ext uri="{FF2B5EF4-FFF2-40B4-BE49-F238E27FC236}">
                <a16:creationId xmlns:a16="http://schemas.microsoft.com/office/drawing/2014/main" id="{F79E4A29-FC1B-34A4-D7E7-F138BC0695F3}"/>
              </a:ext>
            </a:extLst>
          </p:cNvPr>
          <p:cNvSpPr txBox="1"/>
          <p:nvPr/>
        </p:nvSpPr>
        <p:spPr>
          <a:xfrm>
            <a:off x="577990" y="1485812"/>
            <a:ext cx="4286617" cy="33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SELL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сигнал 28% оновчтой таамаг </a:t>
            </a:r>
            <a:r>
              <a:rPr lang="en-US" dirty="0"/>
              <a:t>→</a:t>
            </a:r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mn-MN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Хассан</a:t>
            </a:r>
            <a:endParaRPr lang="en-US" b="1" dirty="0"/>
          </a:p>
        </p:txBody>
      </p:sp>
      <p:sp>
        <p:nvSpPr>
          <p:cNvPr id="7" name="Google Shape;126;p16">
            <a:extLst>
              <a:ext uri="{FF2B5EF4-FFF2-40B4-BE49-F238E27FC236}">
                <a16:creationId xmlns:a16="http://schemas.microsoft.com/office/drawing/2014/main" id="{87F07E2C-FB19-1184-5587-209C5768C692}"/>
              </a:ext>
            </a:extLst>
          </p:cNvPr>
          <p:cNvSpPr txBox="1"/>
          <p:nvPr/>
        </p:nvSpPr>
        <p:spPr>
          <a:xfrm>
            <a:off x="569320" y="2049632"/>
            <a:ext cx="4286617" cy="95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r>
              <a:rPr lang="mn-MN" dirty="0"/>
              <a:t>Давуу тал: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n-MN" dirty="0"/>
              <a:t>Шийдвэр гаргалтыг хялбарчилсан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n-MN" dirty="0"/>
              <a:t>Эрсдлийг бууруулсан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n-MN" dirty="0"/>
              <a:t>Моделийн оновчлол сайжирсан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305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9F7DF6AE-AF85-43DB-57A8-7FA3FB59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>
            <a:extLst>
              <a:ext uri="{FF2B5EF4-FFF2-40B4-BE49-F238E27FC236}">
                <a16:creationId xmlns:a16="http://schemas.microsoft.com/office/drawing/2014/main" id="{03227F2A-AC4F-51DA-2356-AE2D89DF9D84}"/>
              </a:ext>
            </a:extLst>
          </p:cNvPr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A7F3F789-BADC-40ED-2989-2E7DA06EAD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F38B52A1-5637-02F1-82C0-864149ACE872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FA59D3FC-32A7-2723-5D0C-6885276C67BE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400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Үр дүн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FD4AB40E-9EF5-8979-2055-FA4EA53E92B8}"/>
              </a:ext>
            </a:extLst>
          </p:cNvPr>
          <p:cNvSpPr txBox="1"/>
          <p:nvPr/>
        </p:nvSpPr>
        <p:spPr>
          <a:xfrm>
            <a:off x="569320" y="702449"/>
            <a:ext cx="3275480" cy="32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BUY-ONLY </a:t>
            </a:r>
            <a:r>
              <a:rPr lang="mn-MN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стратеги</a:t>
            </a:r>
            <a:endParaRPr sz="700" dirty="0"/>
          </a:p>
        </p:txBody>
      </p:sp>
      <p:sp>
        <p:nvSpPr>
          <p:cNvPr id="9" name="Google Shape;126;p16">
            <a:extLst>
              <a:ext uri="{FF2B5EF4-FFF2-40B4-BE49-F238E27FC236}">
                <a16:creationId xmlns:a16="http://schemas.microsoft.com/office/drawing/2014/main" id="{19F26C71-ED6B-4006-A9B6-15D7713837D4}"/>
              </a:ext>
            </a:extLst>
          </p:cNvPr>
          <p:cNvSpPr txBox="1"/>
          <p:nvPr/>
        </p:nvSpPr>
        <p:spPr>
          <a:xfrm>
            <a:off x="2640830" y="4148658"/>
            <a:ext cx="3862258" cy="58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Хүснэгт 2.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Магадлалын түвшин бүрийн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сигналын гүйцэтгэл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0E962E-4B61-B297-BAAF-ED7FE8D87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556205"/>
              </p:ext>
            </p:extLst>
          </p:nvPr>
        </p:nvGraphicFramePr>
        <p:xfrm>
          <a:off x="390104" y="1819586"/>
          <a:ext cx="8363710" cy="1854200"/>
        </p:xfrm>
        <a:graphic>
          <a:graphicData uri="http://schemas.openxmlformats.org/drawingml/2006/table">
            <a:tbl>
              <a:tblPr firstRow="1" bandRow="1">
                <a:tableStyleId>{7AFEAA0D-C5C3-4A36-96FE-8D10CC5A47C7}</a:tableStyleId>
              </a:tblPr>
              <a:tblGrid>
                <a:gridCol w="1389888">
                  <a:extLst>
                    <a:ext uri="{9D8B030D-6E8A-4147-A177-3AD203B41FA5}">
                      <a16:colId xmlns:a16="http://schemas.microsoft.com/office/drawing/2014/main" val="20210187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1372225271"/>
                    </a:ext>
                  </a:extLst>
                </a:gridCol>
                <a:gridCol w="1639824">
                  <a:extLst>
                    <a:ext uri="{9D8B030D-6E8A-4147-A177-3AD203B41FA5}">
                      <a16:colId xmlns:a16="http://schemas.microsoft.com/office/drawing/2014/main" val="3435757280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3368330116"/>
                    </a:ext>
                  </a:extLst>
                </a:gridCol>
                <a:gridCol w="2310382">
                  <a:extLst>
                    <a:ext uri="{9D8B030D-6E8A-4147-A177-3AD203B41FA5}">
                      <a16:colId xmlns:a16="http://schemas.microsoft.com/office/drawing/2014/main" val="1870798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Магадлал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Сигналын тоо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Нарийвчлал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Нийт ашиг</a:t>
                      </a:r>
                      <a:r>
                        <a:rPr lang="en-US" dirty="0"/>
                        <a:t> (pip)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Ашиг алдагдлын харьцаа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290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≥ 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279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48.8%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+973.0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1.76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559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≥ </a:t>
                      </a:r>
                      <a:r>
                        <a:rPr lang="mn-MN" dirty="0"/>
                        <a:t>80</a:t>
                      </a:r>
                      <a:r>
                        <a:rPr lang="en-US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105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61.9%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+671.1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3.10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51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≥ </a:t>
                      </a:r>
                      <a:r>
                        <a:rPr lang="mn-MN" dirty="0"/>
                        <a:t>8</a:t>
                      </a:r>
                      <a:r>
                        <a:rPr lang="en-US" dirty="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48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68.8%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+387.2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4.82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525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≥ </a:t>
                      </a:r>
                      <a:r>
                        <a:rPr lang="mn-MN" dirty="0"/>
                        <a:t>90</a:t>
                      </a:r>
                      <a:r>
                        <a:rPr lang="en-US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100.0%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+119.9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506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91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CCF6DD9B-2C27-1931-5F73-7E847237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>
            <a:extLst>
              <a:ext uri="{FF2B5EF4-FFF2-40B4-BE49-F238E27FC236}">
                <a16:creationId xmlns:a16="http://schemas.microsoft.com/office/drawing/2014/main" id="{CC2ABB78-9A83-632E-9E06-A81765AFCA99}"/>
              </a:ext>
            </a:extLst>
          </p:cNvPr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4270200C-27A1-5DC7-C114-31BF30486A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E8BD054E-CDC1-F696-F14D-CEDDB86D4E05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276433E3-6236-A348-87DF-69E953A0DE9D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400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Үр дүн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FE3B6959-385A-7DE5-E193-4D6733496F78}"/>
              </a:ext>
            </a:extLst>
          </p:cNvPr>
          <p:cNvSpPr txBox="1"/>
          <p:nvPr/>
        </p:nvSpPr>
        <p:spPr>
          <a:xfrm>
            <a:off x="569320" y="702449"/>
            <a:ext cx="3275480" cy="32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Загваруудын гүйцэтгэл</a:t>
            </a:r>
            <a:endParaRPr sz="700" dirty="0"/>
          </a:p>
        </p:txBody>
      </p:sp>
      <p:sp>
        <p:nvSpPr>
          <p:cNvPr id="9" name="Google Shape;126;p16">
            <a:extLst>
              <a:ext uri="{FF2B5EF4-FFF2-40B4-BE49-F238E27FC236}">
                <a16:creationId xmlns:a16="http://schemas.microsoft.com/office/drawing/2014/main" id="{8B21FEA0-197E-F9ED-AB4C-1EE5D739CB20}"/>
              </a:ext>
            </a:extLst>
          </p:cNvPr>
          <p:cNvSpPr txBox="1"/>
          <p:nvPr/>
        </p:nvSpPr>
        <p:spPr>
          <a:xfrm>
            <a:off x="2408551" y="4324451"/>
            <a:ext cx="4326816" cy="33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Хүснэгт 3.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Загваруудын гүйцэтгэлийн үзүүлэлт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1A36E4-F070-DB63-D303-8C4FD6325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322615"/>
              </p:ext>
            </p:extLst>
          </p:nvPr>
        </p:nvGraphicFramePr>
        <p:xfrm>
          <a:off x="582127" y="1473040"/>
          <a:ext cx="7979664" cy="2362200"/>
        </p:xfrm>
        <a:graphic>
          <a:graphicData uri="http://schemas.openxmlformats.org/drawingml/2006/table">
            <a:tbl>
              <a:tblPr firstRow="1" bandRow="1">
                <a:tableStyleId>{7AFEAA0D-C5C3-4A36-96FE-8D10CC5A47C7}</a:tableStyleId>
              </a:tblPr>
              <a:tblGrid>
                <a:gridCol w="1329944">
                  <a:extLst>
                    <a:ext uri="{9D8B030D-6E8A-4147-A177-3AD203B41FA5}">
                      <a16:colId xmlns:a16="http://schemas.microsoft.com/office/drawing/2014/main" val="3710785032"/>
                    </a:ext>
                  </a:extLst>
                </a:gridCol>
                <a:gridCol w="1329944">
                  <a:extLst>
                    <a:ext uri="{9D8B030D-6E8A-4147-A177-3AD203B41FA5}">
                      <a16:colId xmlns:a16="http://schemas.microsoft.com/office/drawing/2014/main" val="2936045657"/>
                    </a:ext>
                  </a:extLst>
                </a:gridCol>
                <a:gridCol w="1272032">
                  <a:extLst>
                    <a:ext uri="{9D8B030D-6E8A-4147-A177-3AD203B41FA5}">
                      <a16:colId xmlns:a16="http://schemas.microsoft.com/office/drawing/2014/main" val="4050115715"/>
                    </a:ext>
                  </a:extLst>
                </a:gridCol>
                <a:gridCol w="1387856">
                  <a:extLst>
                    <a:ext uri="{9D8B030D-6E8A-4147-A177-3AD203B41FA5}">
                      <a16:colId xmlns:a16="http://schemas.microsoft.com/office/drawing/2014/main" val="2774464019"/>
                    </a:ext>
                  </a:extLst>
                </a:gridCol>
                <a:gridCol w="1329944">
                  <a:extLst>
                    <a:ext uri="{9D8B030D-6E8A-4147-A177-3AD203B41FA5}">
                      <a16:colId xmlns:a16="http://schemas.microsoft.com/office/drawing/2014/main" val="3605819096"/>
                    </a:ext>
                  </a:extLst>
                </a:gridCol>
                <a:gridCol w="1329944">
                  <a:extLst>
                    <a:ext uri="{9D8B030D-6E8A-4147-A177-3AD203B41FA5}">
                      <a16:colId xmlns:a16="http://schemas.microsoft.com/office/drawing/2014/main" val="2645788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Загвар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Нарийвчлал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Оновчлол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Илрүүлэлтийн хувь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Нэгдсэн харьцааны оноо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739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90%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0.74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0.72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0.73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0.85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03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LightGBM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89%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0.71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0.69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0.70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0.83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442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88%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0.68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0.66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0.67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0.81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596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Ensemble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91%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0.76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0.74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0.75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0.87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696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87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9934D9A2-9D0C-59F3-ECA3-C930419B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>
            <a:extLst>
              <a:ext uri="{FF2B5EF4-FFF2-40B4-BE49-F238E27FC236}">
                <a16:creationId xmlns:a16="http://schemas.microsoft.com/office/drawing/2014/main" id="{64009B19-E7C5-88CB-EE35-DEDCA27B5B80}"/>
              </a:ext>
            </a:extLst>
          </p:cNvPr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6AFB0382-AAAB-6832-02DE-9EFB0B9B5D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B29F03A4-8C80-7DC4-87BA-CE537CE252EF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FE5D2FAE-129C-FF41-1E20-5E3F985CAA6B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400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Үр дүн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D2A19805-4675-57F3-556D-68E65561C5B8}"/>
              </a:ext>
            </a:extLst>
          </p:cNvPr>
          <p:cNvSpPr txBox="1"/>
          <p:nvPr/>
        </p:nvSpPr>
        <p:spPr>
          <a:xfrm>
            <a:off x="569319" y="702449"/>
            <a:ext cx="5517715" cy="32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5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Бодит ханшын хөдөлгөөн болон сигнал гаргалт</a:t>
            </a:r>
            <a:endParaRPr sz="700" dirty="0"/>
          </a:p>
        </p:txBody>
      </p:sp>
      <p:sp>
        <p:nvSpPr>
          <p:cNvPr id="9" name="Google Shape;126;p16">
            <a:extLst>
              <a:ext uri="{FF2B5EF4-FFF2-40B4-BE49-F238E27FC236}">
                <a16:creationId xmlns:a16="http://schemas.microsoft.com/office/drawing/2014/main" id="{1BE4DBB5-73C9-B9BB-6728-62BEF6D609D7}"/>
              </a:ext>
            </a:extLst>
          </p:cNvPr>
          <p:cNvSpPr txBox="1"/>
          <p:nvPr/>
        </p:nvSpPr>
        <p:spPr>
          <a:xfrm>
            <a:off x="2207060" y="4285703"/>
            <a:ext cx="4729152" cy="58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Зураг 4.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EUR/USD 2025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оны 3-4-р сарын бодит ханшийн хөдөлгөөн ба техникийн индикаторууд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6CC193-D9AA-3A44-27D4-1C1F822EE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598" y="1110257"/>
            <a:ext cx="6366076" cy="30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00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26;p16">
            <a:extLst>
              <a:ext uri="{FF2B5EF4-FFF2-40B4-BE49-F238E27FC236}">
                <a16:creationId xmlns:a16="http://schemas.microsoft.com/office/drawing/2014/main" id="{95968CE2-E3B2-3371-C6AC-E3941A46AD96}"/>
              </a:ext>
            </a:extLst>
          </p:cNvPr>
          <p:cNvSpPr txBox="1"/>
          <p:nvPr/>
        </p:nvSpPr>
        <p:spPr>
          <a:xfrm>
            <a:off x="656810" y="979732"/>
            <a:ext cx="7830300" cy="132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Энэхүү төгсөлтийн судалгааны ажлаар машин сургалтын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аргыг ашиглан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EUR/USD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валютын хослолын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сигнал таамаглах системийг амжилттай хөгжүүлсэн. Судалгааны явцад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LightGBM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Random Forest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гурван загварыг нэгтгэсэн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арга нь загварууд дангаар ажиллахаас илүү тогтвортой, найдвартай үр дүн өгч байгаа нь ажиглагдсан.</a:t>
            </a: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B57AEB37-71BE-C67C-F50C-22A9F4CCD770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3A5D4896-6ECD-D723-8D3B-171E54592A76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400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Дү</a:t>
            </a:r>
            <a:r>
              <a:rPr lang="mn-MN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гнэлт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833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7099049" y="114043"/>
            <a:ext cx="1915652" cy="74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>
            <a:spLocks noGrp="1"/>
          </p:cNvSpPr>
          <p:nvPr>
            <p:ph type="sldNum" idx="12"/>
          </p:nvPr>
        </p:nvSpPr>
        <p:spPr>
          <a:xfrm>
            <a:off x="7947900" y="4759788"/>
            <a:ext cx="1066800" cy="182700"/>
          </a:xfrm>
          <a:prstGeom prst="rect">
            <a:avLst/>
          </a:prstGeom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26;p16">
            <a:extLst>
              <a:ext uri="{FF2B5EF4-FFF2-40B4-BE49-F238E27FC236}">
                <a16:creationId xmlns:a16="http://schemas.microsoft.com/office/drawing/2014/main" id="{95968CE2-E3B2-3371-C6AC-E3941A46AD96}"/>
              </a:ext>
            </a:extLst>
          </p:cNvPr>
          <p:cNvSpPr txBox="1"/>
          <p:nvPr/>
        </p:nvSpPr>
        <p:spPr>
          <a:xfrm>
            <a:off x="656810" y="1133641"/>
            <a:ext cx="7830300" cy="8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SELL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сигнал гаргадаг болгох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Олон валютын хослол дээр таамаглал гаргадаг болгох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</a:t>
            </a:r>
            <a:r>
              <a:rPr lang="mn-M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моделын нарийвчлалыг сайжруулах</a:t>
            </a:r>
          </a:p>
        </p:txBody>
      </p:sp>
      <p:sp>
        <p:nvSpPr>
          <p:cNvPr id="3" name="Google Shape;124;p16">
            <a:extLst>
              <a:ext uri="{FF2B5EF4-FFF2-40B4-BE49-F238E27FC236}">
                <a16:creationId xmlns:a16="http://schemas.microsoft.com/office/drawing/2014/main" id="{B57AEB37-71BE-C67C-F50C-22A9F4CCD770}"/>
              </a:ext>
            </a:extLst>
          </p:cNvPr>
          <p:cNvSpPr/>
          <p:nvPr/>
        </p:nvSpPr>
        <p:spPr>
          <a:xfrm rot="10800000">
            <a:off x="577991" y="681144"/>
            <a:ext cx="3994009" cy="21304"/>
          </a:xfrm>
          <a:custGeom>
            <a:avLst/>
            <a:gdLst/>
            <a:ahLst/>
            <a:cxnLst/>
            <a:rect l="l" t="t" r="r" b="b"/>
            <a:pathLst>
              <a:path w="13095112" h="69850" extrusionOk="0">
                <a:moveTo>
                  <a:pt x="12804282" y="0"/>
                </a:moveTo>
                <a:lnTo>
                  <a:pt x="0" y="0"/>
                </a:lnTo>
                <a:lnTo>
                  <a:pt x="0" y="69850"/>
                </a:lnTo>
                <a:lnTo>
                  <a:pt x="13095112" y="69850"/>
                </a:lnTo>
                <a:lnTo>
                  <a:pt x="13095112" y="0"/>
                </a:lnTo>
                <a:close/>
              </a:path>
            </a:pathLst>
          </a:custGeom>
          <a:solidFill>
            <a:srgbClr val="05A0EA"/>
          </a:solidFill>
          <a:ln>
            <a:noFill/>
          </a:ln>
        </p:spPr>
      </p:sp>
      <p:sp>
        <p:nvSpPr>
          <p:cNvPr id="4" name="Google Shape;125;p16">
            <a:extLst>
              <a:ext uri="{FF2B5EF4-FFF2-40B4-BE49-F238E27FC236}">
                <a16:creationId xmlns:a16="http://schemas.microsoft.com/office/drawing/2014/main" id="{3A5D4896-6ECD-D723-8D3B-171E54592A76}"/>
              </a:ext>
            </a:extLst>
          </p:cNvPr>
          <p:cNvSpPr txBox="1"/>
          <p:nvPr/>
        </p:nvSpPr>
        <p:spPr>
          <a:xfrm>
            <a:off x="569360" y="403860"/>
            <a:ext cx="40026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400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Дү</a:t>
            </a:r>
            <a:r>
              <a:rPr lang="mn-MN" b="1" dirty="0">
                <a:solidFill>
                  <a:srgbClr val="0E31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гнэлт</a:t>
            </a:r>
            <a:endParaRPr lang="mn-MN"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50;p17">
            <a:extLst>
              <a:ext uri="{FF2B5EF4-FFF2-40B4-BE49-F238E27FC236}">
                <a16:creationId xmlns:a16="http://schemas.microsoft.com/office/drawing/2014/main" id="{467E0A8F-1736-55B9-45FE-AA4B5E62682F}"/>
              </a:ext>
            </a:extLst>
          </p:cNvPr>
          <p:cNvSpPr txBox="1"/>
          <p:nvPr/>
        </p:nvSpPr>
        <p:spPr>
          <a:xfrm>
            <a:off x="569320" y="702449"/>
            <a:ext cx="4089080" cy="32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Цаашдын хөгжүүлэлт</a:t>
            </a: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700" dirty="0"/>
          </a:p>
        </p:txBody>
      </p:sp>
    </p:spTree>
    <p:extLst>
      <p:ext uri="{BB962C8B-B14F-4D97-AF65-F5344CB8AC3E}">
        <p14:creationId xmlns:p14="http://schemas.microsoft.com/office/powerpoint/2010/main" val="2860447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F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41"/>
          <p:cNvGrpSpPr/>
          <p:nvPr/>
        </p:nvGrpSpPr>
        <p:grpSpPr>
          <a:xfrm>
            <a:off x="1093579" y="1264189"/>
            <a:ext cx="2960888" cy="2615123"/>
            <a:chOff x="0" y="0"/>
            <a:chExt cx="7895701" cy="6973660"/>
          </a:xfrm>
        </p:grpSpPr>
        <p:pic>
          <p:nvPicPr>
            <p:cNvPr id="536" name="Google Shape;536;p41"/>
            <p:cNvPicPr preferRelativeResize="0"/>
            <p:nvPr/>
          </p:nvPicPr>
          <p:blipFill rotWithShape="1">
            <a:blip r:embed="rId3">
              <a:alphaModFix/>
            </a:blip>
            <a:srcRect l="71853" r="5458"/>
            <a:stretch/>
          </p:blipFill>
          <p:spPr>
            <a:xfrm>
              <a:off x="0" y="0"/>
              <a:ext cx="2373074" cy="6973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41"/>
            <p:cNvPicPr preferRelativeResize="0"/>
            <p:nvPr/>
          </p:nvPicPr>
          <p:blipFill rotWithShape="1">
            <a:blip r:embed="rId4">
              <a:alphaModFix/>
            </a:blip>
            <a:srcRect l="66518" r="10794"/>
            <a:stretch/>
          </p:blipFill>
          <p:spPr>
            <a:xfrm>
              <a:off x="5522627" y="0"/>
              <a:ext cx="2373074" cy="6973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41"/>
            <p:cNvPicPr preferRelativeResize="0"/>
            <p:nvPr/>
          </p:nvPicPr>
          <p:blipFill rotWithShape="1">
            <a:blip r:embed="rId5">
              <a:alphaModFix/>
            </a:blip>
            <a:srcRect l="57325" r="20002"/>
            <a:stretch/>
          </p:blipFill>
          <p:spPr>
            <a:xfrm>
              <a:off x="2761313" y="0"/>
              <a:ext cx="2373074" cy="69736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9" name="Google Shape;539;p41"/>
          <p:cNvSpPr txBox="1"/>
          <p:nvPr/>
        </p:nvSpPr>
        <p:spPr>
          <a:xfrm>
            <a:off x="4924131" y="2401888"/>
            <a:ext cx="29397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E3199"/>
                </a:solidFill>
                <a:latin typeface="Roboto"/>
                <a:ea typeface="Roboto"/>
                <a:cs typeface="Roboto"/>
                <a:sym typeface="Roboto"/>
              </a:rPr>
              <a:t>БАЯРЛАЛАА</a:t>
            </a:r>
            <a:endParaRPr sz="700"/>
          </a:p>
        </p:txBody>
      </p:sp>
      <p:pic>
        <p:nvPicPr>
          <p:cNvPr id="540" name="Google Shape;540;p41"/>
          <p:cNvPicPr preferRelativeResize="0"/>
          <p:nvPr/>
        </p:nvPicPr>
        <p:blipFill rotWithShape="1">
          <a:blip r:embed="rId6">
            <a:alphaModFix amt="60000"/>
          </a:blip>
          <a:srcRect/>
          <a:stretch/>
        </p:blipFill>
        <p:spPr>
          <a:xfrm>
            <a:off x="5643877" y="1777659"/>
            <a:ext cx="1500299" cy="581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443</Words>
  <Application>Microsoft Office PowerPoint</Application>
  <PresentationFormat>On-screen Show (16:9)</PresentationFormat>
  <Paragraphs>145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Roboto</vt:lpstr>
      <vt:lpstr>Times New Roman</vt:lpstr>
      <vt:lpstr>Open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Munkhdorj Munkhsuld</cp:lastModifiedBy>
  <cp:revision>8</cp:revision>
  <dcterms:modified xsi:type="dcterms:W3CDTF">2025-12-02T04:52:18Z</dcterms:modified>
</cp:coreProperties>
</file>